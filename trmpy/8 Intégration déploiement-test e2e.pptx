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11" Type="http://schemas.openxmlformats.org/officeDocument/2006/relationships/slide" Target="slides/slide6.xml"/><Relationship Id="rId22" Type="http://schemas.openxmlformats.org/officeDocument/2006/relationships/slide" Target="slides/slide17.xml"/><Relationship Id="rId10" Type="http://schemas.openxmlformats.org/officeDocument/2006/relationships/slide" Target="slides/slide5.xml"/><Relationship Id="rId21" Type="http://schemas.openxmlformats.org/officeDocument/2006/relationships/slide" Target="slides/slide16.xml"/><Relationship Id="rId13" Type="http://schemas.openxmlformats.org/officeDocument/2006/relationships/slide" Target="slides/slide8.xml"/><Relationship Id="rId24" Type="http://schemas.openxmlformats.org/officeDocument/2006/relationships/slide" Target="slides/slide19.xml"/><Relationship Id="rId12" Type="http://schemas.openxmlformats.org/officeDocument/2006/relationships/slide" Target="slides/slide7.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slide" Target="slides/slide14.xml"/><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2afc73dde5b_0_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2afc73dde5b_0_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2c04a83595e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g2c04a83595e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2c04a83595e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g2c04a83595e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g2c04a83595e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 name="Google Shape;76;g2c04a83595e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2c04a83595e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 name="Google Shape;82;g2c04a83595e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g2c04a83595e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 name="Google Shape;88;g2c04a83595e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2c04a83595e_0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 name="Google Shape;94;g2c04a83595e_0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g2c04a83595e_0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 name="Google Shape;100;g2c04a83595e_0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g2c04a83595e_0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 name="Google Shape;106;g2c04a83595e_0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g2c04a83595e_0_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2" name="Google Shape;112;g2c04a83595e_0_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g2c04a83595e_0_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 name="Google Shape;118;g2c04a83595e_0_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g2c04a83595e_0_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4" name="Google Shape;124;g2c04a83595e_0_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g2c04a83595e_0_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0" name="Google Shape;130;g2c04a83595e_0_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g2c04a83595e_0_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6" name="Google Shape;136;g2c04a83595e_0_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g2c04a83595e_0_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2" name="Google Shape;142;g2c04a83595e_0_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g2c04a83595e_0_1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8" name="Google Shape;148;g2c04a83595e_0_1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3c96619748c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4" name="Google Shape;154;g3c96619748c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g2c04a83595e_0_1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0" name="Google Shape;160;g2c04a83595e_0_1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fr"/>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fr"/>
              <a:t>Intégration déploiement</a:t>
            </a:r>
            <a:endParaRPr/>
          </a:p>
        </p:txBody>
      </p:sp>
      <p:sp>
        <p:nvSpPr>
          <p:cNvPr id="55" name="Google Shape;55;p13"/>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fr"/>
              <a:t>Test end-to-end</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fr"/>
              <a:t>Le test end</a:t>
            </a:r>
            <a:endParaRPr/>
          </a:p>
        </p:txBody>
      </p:sp>
      <p:sp>
        <p:nvSpPr>
          <p:cNvPr id="61" name="Google Shape;61;p1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fr"/>
              <a:t>Le test end-to-end (aussi appelé e2e ou tests de bout-en-bout) est une méthode qui consiste à tester l'ensemble de l'application du début à la fin pour s'assurer que le flux d'application se comporte comme prévu. Il définit les dépendances système du produit et garantit que toutes les pièces intégrées fonctionnent ensemble comme prévu. L'objectif principal des tests de bout en bout (E2E) est de tester l'expérience de l'utilisateur final en simulant le scénario de l'utilisateur réel et en validant le système testé et ses composants pour l'intégration et l'intégrité des données.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fr"/>
              <a:t>Comment écrire un test e2e</a:t>
            </a:r>
            <a:endParaRPr/>
          </a:p>
        </p:txBody>
      </p:sp>
      <p:sp>
        <p:nvSpPr>
          <p:cNvPr id="67" name="Google Shape;67;p1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fr"/>
              <a:t>Il existe de nombreux outils de test de bout-en-bout pour les applications Web, tels que </a:t>
            </a:r>
            <a:endParaRPr/>
          </a:p>
          <a:p>
            <a:pPr indent="-342900" lvl="0" marL="457200" rtl="0" algn="l">
              <a:spcBef>
                <a:spcPts val="1200"/>
              </a:spcBef>
              <a:spcAft>
                <a:spcPts val="0"/>
              </a:spcAft>
              <a:buSzPts val="1800"/>
              <a:buChar char="-"/>
            </a:pPr>
            <a:r>
              <a:rPr lang="fr"/>
              <a:t>TestCafe, </a:t>
            </a:r>
            <a:endParaRPr/>
          </a:p>
          <a:p>
            <a:pPr indent="-342900" lvl="0" marL="457200" rtl="0" algn="l">
              <a:spcBef>
                <a:spcPts val="0"/>
              </a:spcBef>
              <a:spcAft>
                <a:spcPts val="0"/>
              </a:spcAft>
              <a:buSzPts val="1800"/>
              <a:buChar char="-"/>
            </a:pPr>
            <a:r>
              <a:rPr lang="fr"/>
              <a:t>Puppeteer, </a:t>
            </a:r>
            <a:endParaRPr/>
          </a:p>
          <a:p>
            <a:pPr indent="-342900" lvl="0" marL="457200" rtl="0" algn="l">
              <a:spcBef>
                <a:spcPts val="0"/>
              </a:spcBef>
              <a:spcAft>
                <a:spcPts val="0"/>
              </a:spcAft>
              <a:buSzPts val="1800"/>
              <a:buChar char="-"/>
            </a:pPr>
            <a:r>
              <a:rPr lang="fr"/>
              <a:t>Playwright, </a:t>
            </a:r>
            <a:endParaRPr/>
          </a:p>
          <a:p>
            <a:pPr indent="-342900" lvl="0" marL="457200" rtl="0" algn="l">
              <a:spcBef>
                <a:spcPts val="0"/>
              </a:spcBef>
              <a:spcAft>
                <a:spcPts val="0"/>
              </a:spcAft>
              <a:buSzPts val="1800"/>
              <a:buChar char="-"/>
            </a:pPr>
            <a:r>
              <a:rPr lang="fr"/>
              <a:t>PhantomJS,</a:t>
            </a:r>
            <a:endParaRPr/>
          </a:p>
          <a:p>
            <a:pPr indent="-342900" lvl="0" marL="457200" rtl="0" algn="l">
              <a:spcBef>
                <a:spcPts val="0"/>
              </a:spcBef>
              <a:spcAft>
                <a:spcPts val="0"/>
              </a:spcAft>
              <a:buSzPts val="1800"/>
              <a:buChar char="-"/>
            </a:pPr>
            <a:r>
              <a:rPr lang="fr"/>
              <a:t>Selenium,</a:t>
            </a:r>
            <a:endParaRPr/>
          </a:p>
          <a:p>
            <a:pPr indent="-342900" lvl="0" marL="457200" rtl="0" algn="l">
              <a:spcBef>
                <a:spcPts val="0"/>
              </a:spcBef>
              <a:spcAft>
                <a:spcPts val="0"/>
              </a:spcAft>
              <a:buSzPts val="1800"/>
              <a:buChar char="-"/>
            </a:pPr>
            <a:r>
              <a:rPr lang="fr"/>
              <a:t>Cucumber</a:t>
            </a:r>
            <a:endParaRPr/>
          </a:p>
          <a:p>
            <a:pPr indent="-342900" lvl="0" marL="457200" rtl="0" algn="l">
              <a:spcBef>
                <a:spcPts val="0"/>
              </a:spcBef>
              <a:spcAft>
                <a:spcPts val="0"/>
              </a:spcAft>
              <a:buSzPts val="1800"/>
              <a:buChar char="-"/>
            </a:pPr>
            <a:r>
              <a:rPr lang="fr"/>
              <a:t>Testim</a:t>
            </a:r>
            <a:endParaRPr/>
          </a:p>
          <a:p>
            <a:pPr indent="-342900" lvl="0" marL="457200" rtl="0" algn="l">
              <a:spcBef>
                <a:spcPts val="0"/>
              </a:spcBef>
              <a:spcAft>
                <a:spcPts val="0"/>
              </a:spcAft>
              <a:buSzPts val="1800"/>
              <a:buChar char="-"/>
            </a:pPr>
            <a:r>
              <a:rPr lang="fr"/>
              <a:t>Cypress</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fr"/>
              <a:t>Pourquoi Cypress</a:t>
            </a:r>
            <a:endParaRPr/>
          </a:p>
        </p:txBody>
      </p:sp>
      <p:sp>
        <p:nvSpPr>
          <p:cNvPr id="73" name="Google Shape;73;p1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fr"/>
              <a:t>Cypress est un framework JS de tests end-to-end. C’est un outil open source permettant de mettre facilement en place ces tests d’applications utilisant React ou des frameworks JavaScript comme Vue, Angular, Elm et bien d’autres.</a:t>
            </a:r>
            <a:endParaRPr/>
          </a:p>
          <a:p>
            <a:pPr indent="0" lvl="0" marL="0" rtl="0" algn="l">
              <a:spcBef>
                <a:spcPts val="1200"/>
              </a:spcBef>
              <a:spcAft>
                <a:spcPts val="1200"/>
              </a:spcAft>
              <a:buNone/>
            </a:pPr>
            <a:r>
              <a:rPr lang="fr"/>
              <a:t>Par rapport à d’autres outils de tests e2e, Cypress n’a pas besoin d’être couplé à une solution ni à un driver pour sa mise en place. Sa mission est de rendre l’écriture des tests plus rapide (tests exécutés sur le navigateur), plus facile (écriture des tests en JavaScript avec Mocha, Chai et Sinon) et encore plus fiable (visibilité des tests effectués sur le navigateur, screenshot de l’erreur).</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17"/>
          <p:cNvSpPr txBox="1"/>
          <p:nvPr>
            <p:ph idx="1" type="body"/>
          </p:nvPr>
        </p:nvSpPr>
        <p:spPr>
          <a:xfrm>
            <a:off x="3120300" y="4512600"/>
            <a:ext cx="2903400" cy="6309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fr" sz="1300"/>
              <a:t>source : npm trends, decembre 2023</a:t>
            </a:r>
            <a:endParaRPr sz="1300"/>
          </a:p>
        </p:txBody>
      </p:sp>
      <p:pic>
        <p:nvPicPr>
          <p:cNvPr id="79" name="Google Shape;79;p17"/>
          <p:cNvPicPr preferRelativeResize="0"/>
          <p:nvPr/>
        </p:nvPicPr>
        <p:blipFill>
          <a:blip r:embed="rId3">
            <a:alphaModFix/>
          </a:blip>
          <a:stretch>
            <a:fillRect/>
          </a:stretch>
        </p:blipFill>
        <p:spPr>
          <a:xfrm>
            <a:off x="1353668" y="173175"/>
            <a:ext cx="6436668" cy="433942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fr"/>
              <a:t>Les points forts de Cypress : son architecture</a:t>
            </a:r>
            <a:endParaRPr/>
          </a:p>
        </p:txBody>
      </p:sp>
      <p:sp>
        <p:nvSpPr>
          <p:cNvPr id="85" name="Google Shape;85;p1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fr"/>
              <a:t>C</a:t>
            </a:r>
            <a:r>
              <a:rPr lang="fr"/>
              <a:t>ontrairement à la plupart des outils de tests end-to-end, Cypress n'utilise pas de driver Selenium. Alors que Selenium exécute des commandes à distance via le réseau, Cypress s'exécute au sein même de votre boucle d'application, ce qui permet de développer et tester ces scénarios en temps réel. Cette exécution permet aussi de lancer les tests au sein même de votre navigateur. L'écriture des tests se fait donc en JavaScript avec des librairies déjà intégrées dans l'installation de Cypress telles que Mocha, Chai et Sinon.</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fr"/>
              <a:t>Les points forts de Cypress : son accès natif</a:t>
            </a:r>
            <a:endParaRPr/>
          </a:p>
        </p:txBody>
      </p:sp>
      <p:sp>
        <p:nvSpPr>
          <p:cNvPr id="91" name="Google Shape;91;p1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fr"/>
              <a:t>C</a:t>
            </a:r>
            <a:r>
              <a:rPr lang="fr"/>
              <a:t>omme Cypress opère au sein même de l’application, cela lui permet d'avoir accès à tout, comme par exemple un élément du DOM, ou bien window ou document.</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fr"/>
              <a:t>Les points forts de Cypress : sa robustesse</a:t>
            </a:r>
            <a:endParaRPr/>
          </a:p>
        </p:txBody>
      </p:sp>
      <p:sp>
        <p:nvSpPr>
          <p:cNvPr id="97" name="Google Shape;97;p2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fr"/>
              <a:t>Cy</a:t>
            </a:r>
            <a:r>
              <a:rPr lang="fr"/>
              <a:t>press est notifié du chargement d'une page. Comme il exécute la grande majorité de ses commandes à l'intérieur du navigateur, il n'y a donc pas de décalage réseau. Lors de l’exécution du scénario, Cypress attend automatiquement que l’élément du DOM soit visible (grâce aux assertions) avant de passer à la suite</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fr"/>
              <a:t>Les points forts de Cypress : son débuggage</a:t>
            </a:r>
            <a:endParaRPr/>
          </a:p>
        </p:txBody>
      </p:sp>
      <p:sp>
        <p:nvSpPr>
          <p:cNvPr id="103" name="Google Shape;103;p2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fr"/>
              <a:t>L</a:t>
            </a:r>
            <a:r>
              <a:rPr lang="fr"/>
              <a:t>'interface de Cypress permet facilement de faire du débuggage. </a:t>
            </a:r>
            <a:endParaRPr/>
          </a:p>
          <a:p>
            <a:pPr indent="0" lvl="0" marL="0" rtl="0" algn="l">
              <a:spcBef>
                <a:spcPts val="1200"/>
              </a:spcBef>
              <a:spcAft>
                <a:spcPts val="0"/>
              </a:spcAft>
              <a:buNone/>
            </a:pPr>
            <a:r>
              <a:rPr lang="fr"/>
              <a:t>L'interface va nous montrer visuellement étape par étape l'exécution des commandes, assertions, requêtes réseaux et les temps de chargements et d'exécutions au sein de votre page. </a:t>
            </a:r>
            <a:endParaRPr/>
          </a:p>
          <a:p>
            <a:pPr indent="0" lvl="0" marL="0" rtl="0" algn="l">
              <a:spcBef>
                <a:spcPts val="1200"/>
              </a:spcBef>
              <a:spcAft>
                <a:spcPts val="0"/>
              </a:spcAft>
              <a:buNone/>
            </a:pPr>
            <a:r>
              <a:rPr lang="fr"/>
              <a:t>Il existe de nombreux messages d'erreurs décrivant la raison exacte pour laquelle Cypress a échoué sur le test du scénario. </a:t>
            </a:r>
            <a:endParaRPr/>
          </a:p>
          <a:p>
            <a:pPr indent="0" lvl="0" marL="0" rtl="0" algn="l">
              <a:spcBef>
                <a:spcPts val="1200"/>
              </a:spcBef>
              <a:spcAft>
                <a:spcPts val="1200"/>
              </a:spcAft>
              <a:buNone/>
            </a:pPr>
            <a:r>
              <a:rPr lang="fr"/>
              <a:t>De plus, Cypress prend des snapshots de l'application et permet donc de revenir dans le temps à l'état dans lequel elle se trouvait lorsque les commandes ont été exécutées, mais aussi d'utiliser l'outil du développement du navigateur, par exemple pour voir les messages dans la console ou voir les requêtes réseaux.</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2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fr"/>
              <a:t>Installer Cypress</a:t>
            </a:r>
            <a:endParaRPr/>
          </a:p>
        </p:txBody>
      </p:sp>
      <p:sp>
        <p:nvSpPr>
          <p:cNvPr id="109" name="Google Shape;109;p2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fr"/>
              <a:t>npm install cypress --save-dev</a:t>
            </a:r>
            <a:endParaRPr/>
          </a:p>
          <a:p>
            <a:pPr indent="0" lvl="0" marL="0" rtl="0" algn="l">
              <a:spcBef>
                <a:spcPts val="1200"/>
              </a:spcBef>
              <a:spcAft>
                <a:spcPts val="0"/>
              </a:spcAft>
              <a:buClr>
                <a:schemeClr val="dk1"/>
              </a:buClr>
              <a:buSzPts val="1100"/>
              <a:buFont typeface="Arial"/>
              <a:buNone/>
            </a:pPr>
            <a:r>
              <a:rPr lang="fr"/>
              <a:t>Une fois l'installation terminée, on va ajouter une commande dans le champ scripts du package.json.</a:t>
            </a:r>
            <a:endParaRPr/>
          </a:p>
          <a:p>
            <a:pPr indent="0" lvl="0" marL="0" rtl="0" algn="l">
              <a:spcBef>
                <a:spcPts val="1200"/>
              </a:spcBef>
              <a:spcAft>
                <a:spcPts val="0"/>
              </a:spcAft>
              <a:buNone/>
            </a:pPr>
            <a:r>
              <a:rPr lang="fr"/>
              <a:t> cypress: "cypress open"</a:t>
            </a:r>
            <a:endParaRPr/>
          </a:p>
          <a:p>
            <a:pPr indent="0" lvl="0" marL="0" rtl="0" algn="l">
              <a:spcBef>
                <a:spcPts val="1200"/>
              </a:spcBef>
              <a:spcAft>
                <a:spcPts val="0"/>
              </a:spcAft>
              <a:buClr>
                <a:schemeClr val="dk1"/>
              </a:buClr>
              <a:buSzPts val="1100"/>
              <a:buFont typeface="Arial"/>
              <a:buNone/>
            </a:pPr>
            <a:r>
              <a:rPr lang="fr"/>
              <a:t>Cette commande va nous permettre de démarrer l'interface d'exécution de tests de Cypress.</a:t>
            </a:r>
            <a:endParaRPr/>
          </a:p>
          <a:p>
            <a:pPr indent="0" lvl="0" marL="0" rtl="0" algn="l">
              <a:spcBef>
                <a:spcPts val="1200"/>
              </a:spcBef>
              <a:spcAft>
                <a:spcPts val="1200"/>
              </a:spcAft>
              <a:buNone/>
            </a:pPr>
            <a:r>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2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fr"/>
              <a:t>Architecture de tests cypress</a:t>
            </a:r>
            <a:endParaRPr/>
          </a:p>
        </p:txBody>
      </p:sp>
      <p:sp>
        <p:nvSpPr>
          <p:cNvPr id="115" name="Google Shape;115;p2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70000" lnSpcReduction="20000"/>
          </a:bodyPr>
          <a:lstStyle/>
          <a:p>
            <a:pPr indent="0" lvl="0" marL="0" rtl="0" algn="l">
              <a:spcBef>
                <a:spcPts val="0"/>
              </a:spcBef>
              <a:spcAft>
                <a:spcPts val="0"/>
              </a:spcAft>
              <a:buClr>
                <a:schemeClr val="dk1"/>
              </a:buClr>
              <a:buSzPct val="61111"/>
              <a:buFont typeface="Arial"/>
              <a:buNone/>
            </a:pPr>
            <a:r>
              <a:rPr lang="fr"/>
              <a:t>.</a:t>
            </a:r>
            <a:endParaRPr/>
          </a:p>
          <a:p>
            <a:pPr indent="0" lvl="0" marL="0" rtl="0" algn="l">
              <a:spcBef>
                <a:spcPts val="1200"/>
              </a:spcBef>
              <a:spcAft>
                <a:spcPts val="0"/>
              </a:spcAft>
              <a:buClr>
                <a:schemeClr val="dk1"/>
              </a:buClr>
              <a:buSzPct val="61111"/>
              <a:buFont typeface="Arial"/>
              <a:buNone/>
            </a:pPr>
            <a:r>
              <a:rPr lang="fr"/>
              <a:t>├── cypress</a:t>
            </a:r>
            <a:endParaRPr/>
          </a:p>
          <a:p>
            <a:pPr indent="0" lvl="0" marL="0" rtl="0" algn="l">
              <a:spcBef>
                <a:spcPts val="1200"/>
              </a:spcBef>
              <a:spcAft>
                <a:spcPts val="0"/>
              </a:spcAft>
              <a:buClr>
                <a:schemeClr val="dk1"/>
              </a:buClr>
              <a:buSzPct val="61111"/>
              <a:buFont typeface="Arial"/>
              <a:buNone/>
            </a:pPr>
            <a:r>
              <a:rPr lang="fr"/>
              <a:t>│   ├── fixtures</a:t>
            </a:r>
            <a:endParaRPr/>
          </a:p>
          <a:p>
            <a:pPr indent="0" lvl="0" marL="0" rtl="0" algn="l">
              <a:spcBef>
                <a:spcPts val="1200"/>
              </a:spcBef>
              <a:spcAft>
                <a:spcPts val="0"/>
              </a:spcAft>
              <a:buClr>
                <a:schemeClr val="dk1"/>
              </a:buClr>
              <a:buSzPct val="61111"/>
              <a:buFont typeface="Arial"/>
              <a:buNone/>
            </a:pPr>
            <a:r>
              <a:rPr lang="fr"/>
              <a:t>│   ├── e2e</a:t>
            </a:r>
            <a:endParaRPr/>
          </a:p>
          <a:p>
            <a:pPr indent="0" lvl="0" marL="0" rtl="0" algn="l">
              <a:spcBef>
                <a:spcPts val="1200"/>
              </a:spcBef>
              <a:spcAft>
                <a:spcPts val="0"/>
              </a:spcAft>
              <a:buClr>
                <a:schemeClr val="dk1"/>
              </a:buClr>
              <a:buSzPct val="61111"/>
              <a:buFont typeface="Arial"/>
              <a:buNone/>
            </a:pPr>
            <a:r>
              <a:rPr lang="fr"/>
              <a:t>│   ├── download</a:t>
            </a:r>
            <a:endParaRPr/>
          </a:p>
          <a:p>
            <a:pPr indent="0" lvl="0" marL="0" rtl="0" algn="l">
              <a:spcBef>
                <a:spcPts val="1200"/>
              </a:spcBef>
              <a:spcAft>
                <a:spcPts val="0"/>
              </a:spcAft>
              <a:buClr>
                <a:schemeClr val="dk1"/>
              </a:buClr>
              <a:buSzPct val="61111"/>
              <a:buFont typeface="Arial"/>
              <a:buNone/>
            </a:pPr>
            <a:r>
              <a:rPr lang="fr"/>
              <a:t>│   └── support</a:t>
            </a:r>
            <a:endParaRPr/>
          </a:p>
          <a:p>
            <a:pPr indent="0" lvl="0" marL="0" rtl="0" algn="l">
              <a:spcBef>
                <a:spcPts val="1200"/>
              </a:spcBef>
              <a:spcAft>
                <a:spcPts val="0"/>
              </a:spcAft>
              <a:buClr>
                <a:schemeClr val="dk1"/>
              </a:buClr>
              <a:buSzPct val="61111"/>
              <a:buFont typeface="Arial"/>
              <a:buNone/>
            </a:pPr>
            <a:r>
              <a:rPr lang="fr"/>
              <a:t>├── src</a:t>
            </a:r>
            <a:endParaRPr/>
          </a:p>
          <a:p>
            <a:pPr indent="0" lvl="0" marL="0" rtl="0" algn="l">
              <a:spcBef>
                <a:spcPts val="1200"/>
              </a:spcBef>
              <a:spcAft>
                <a:spcPts val="0"/>
              </a:spcAft>
              <a:buClr>
                <a:schemeClr val="dk1"/>
              </a:buClr>
              <a:buSzPct val="61111"/>
              <a:buFont typeface="Arial"/>
              <a:buNone/>
            </a:pPr>
            <a:r>
              <a:rPr lang="fr"/>
              <a:t>│   └── ...</a:t>
            </a:r>
            <a:endParaRPr/>
          </a:p>
          <a:p>
            <a:pPr indent="0" lvl="0" marL="0" rtl="0" algn="l">
              <a:spcBef>
                <a:spcPts val="1200"/>
              </a:spcBef>
              <a:spcAft>
                <a:spcPts val="0"/>
              </a:spcAft>
              <a:buClr>
                <a:schemeClr val="dk1"/>
              </a:buClr>
              <a:buSzPct val="61111"/>
              <a:buFont typeface="Arial"/>
              <a:buNone/>
            </a:pPr>
            <a:r>
              <a:rPr lang="fr"/>
              <a:t>├── cypress.json</a:t>
            </a:r>
            <a:endParaRPr/>
          </a:p>
          <a:p>
            <a:pPr indent="0" lvl="0" marL="0" rtl="0" algn="l">
              <a:spcBef>
                <a:spcPts val="1200"/>
              </a:spcBef>
              <a:spcAft>
                <a:spcPts val="1200"/>
              </a:spcAft>
              <a:buNone/>
            </a:pPr>
            <a:r>
              <a:rPr lang="fr"/>
              <a:t>├──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2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fr"/>
              <a:t>Initialisation de cypress</a:t>
            </a:r>
            <a:endParaRPr/>
          </a:p>
        </p:txBody>
      </p:sp>
      <p:sp>
        <p:nvSpPr>
          <p:cNvPr id="121" name="Google Shape;121;p2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fr"/>
              <a:t>Dans ce dossier cypress vous pouvez retrouver des exemples et des commentaires pour vous guider dans le développement de vos tests. Le fichier cypress.json est le fichier de configuration sur lequel Cypress va se baser pour faire les tests. Dans ce fichier nous allons ajouter l'url de notre application qui servira de préfix pour des commandes de Cypress comme cy.visit() ou cy.request(). C'est aussi une bonne pratique de stocker notre url afin qu'elle soit accessible dans tous nos tests.</a:t>
            </a:r>
            <a:endParaRPr/>
          </a:p>
          <a:p>
            <a:pPr indent="0" lvl="0" marL="0" rtl="0" algn="l">
              <a:spcBef>
                <a:spcPts val="1200"/>
              </a:spcBef>
              <a:spcAft>
                <a:spcPts val="0"/>
              </a:spcAft>
              <a:buClr>
                <a:schemeClr val="dk1"/>
              </a:buClr>
              <a:buSzPts val="1100"/>
              <a:buFont typeface="Arial"/>
              <a:buNone/>
            </a:pPr>
            <a:r>
              <a:rPr lang="fr"/>
              <a:t>{</a:t>
            </a:r>
            <a:endParaRPr/>
          </a:p>
          <a:p>
            <a:pPr indent="0" lvl="0" marL="0" rtl="0" algn="l">
              <a:spcBef>
                <a:spcPts val="1200"/>
              </a:spcBef>
              <a:spcAft>
                <a:spcPts val="0"/>
              </a:spcAft>
              <a:buClr>
                <a:schemeClr val="dk1"/>
              </a:buClr>
              <a:buSzPts val="1100"/>
              <a:buFont typeface="Arial"/>
              <a:buNone/>
            </a:pPr>
            <a:r>
              <a:rPr lang="fr"/>
              <a:t>  "baseUrl": "http://localhost:3000"</a:t>
            </a:r>
            <a:endParaRPr/>
          </a:p>
          <a:p>
            <a:pPr indent="0" lvl="0" marL="0" rtl="0" algn="l">
              <a:spcBef>
                <a:spcPts val="1200"/>
              </a:spcBef>
              <a:spcAft>
                <a:spcPts val="1200"/>
              </a:spcAft>
              <a:buNone/>
            </a:pPr>
            <a:r>
              <a:rPr lang="fr"/>
              <a:t>}</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2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fr"/>
              <a:t>Imaginer un scénario</a:t>
            </a:r>
            <a:endParaRPr/>
          </a:p>
        </p:txBody>
      </p:sp>
      <p:sp>
        <p:nvSpPr>
          <p:cNvPr id="127" name="Google Shape;127;p2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85000" lnSpcReduction="20000"/>
          </a:bodyPr>
          <a:lstStyle/>
          <a:p>
            <a:pPr indent="0" lvl="0" marL="0" rtl="0" algn="l">
              <a:spcBef>
                <a:spcPts val="0"/>
              </a:spcBef>
              <a:spcAft>
                <a:spcPts val="0"/>
              </a:spcAft>
              <a:buClr>
                <a:schemeClr val="dk1"/>
              </a:buClr>
              <a:buSzPct val="61111"/>
              <a:buFont typeface="Arial"/>
              <a:buNone/>
            </a:pPr>
            <a:r>
              <a:rPr lang="fr"/>
              <a:t>L'utilisateur arrive sur le site</a:t>
            </a:r>
            <a:endParaRPr/>
          </a:p>
          <a:p>
            <a:pPr indent="0" lvl="0" marL="0" rtl="0" algn="l">
              <a:spcBef>
                <a:spcPts val="1200"/>
              </a:spcBef>
              <a:spcAft>
                <a:spcPts val="0"/>
              </a:spcAft>
              <a:buClr>
                <a:schemeClr val="dk1"/>
              </a:buClr>
              <a:buSzPct val="61111"/>
              <a:buFont typeface="Arial"/>
              <a:buNone/>
            </a:pPr>
            <a:r>
              <a:rPr lang="fr"/>
              <a:t>Il se connecte</a:t>
            </a:r>
            <a:endParaRPr/>
          </a:p>
          <a:p>
            <a:pPr indent="0" lvl="0" marL="0" rtl="0" algn="l">
              <a:spcBef>
                <a:spcPts val="1200"/>
              </a:spcBef>
              <a:spcAft>
                <a:spcPts val="0"/>
              </a:spcAft>
              <a:buClr>
                <a:schemeClr val="dk1"/>
              </a:buClr>
              <a:buSzPct val="61111"/>
              <a:buFont typeface="Arial"/>
              <a:buNone/>
            </a:pPr>
            <a:r>
              <a:rPr lang="fr"/>
              <a:t>Si les identifiants sont corrects, il arrive sur la liste des produits</a:t>
            </a:r>
            <a:endParaRPr/>
          </a:p>
          <a:p>
            <a:pPr indent="0" lvl="0" marL="0" rtl="0" algn="l">
              <a:spcBef>
                <a:spcPts val="1200"/>
              </a:spcBef>
              <a:spcAft>
                <a:spcPts val="0"/>
              </a:spcAft>
              <a:buClr>
                <a:schemeClr val="dk1"/>
              </a:buClr>
              <a:buSzPct val="61111"/>
              <a:buFont typeface="Arial"/>
              <a:buNone/>
            </a:pPr>
            <a:r>
              <a:rPr lang="fr"/>
              <a:t>Il sélectionne un produit</a:t>
            </a:r>
            <a:endParaRPr/>
          </a:p>
          <a:p>
            <a:pPr indent="0" lvl="0" marL="0" rtl="0" algn="l">
              <a:spcBef>
                <a:spcPts val="1200"/>
              </a:spcBef>
              <a:spcAft>
                <a:spcPts val="0"/>
              </a:spcAft>
              <a:buClr>
                <a:schemeClr val="dk1"/>
              </a:buClr>
              <a:buSzPct val="61111"/>
              <a:buFont typeface="Arial"/>
              <a:buNone/>
            </a:pPr>
            <a:r>
              <a:rPr lang="fr"/>
              <a:t>Le panier s'incrémente</a:t>
            </a:r>
            <a:endParaRPr/>
          </a:p>
          <a:p>
            <a:pPr indent="0" lvl="0" marL="0" rtl="0" algn="l">
              <a:spcBef>
                <a:spcPts val="1200"/>
              </a:spcBef>
              <a:spcAft>
                <a:spcPts val="0"/>
              </a:spcAft>
              <a:buClr>
                <a:schemeClr val="dk1"/>
              </a:buClr>
              <a:buSzPct val="61111"/>
              <a:buFont typeface="Arial"/>
              <a:buNone/>
            </a:pPr>
            <a:r>
              <a:rPr lang="fr"/>
              <a:t>Il clique sur le panier</a:t>
            </a:r>
            <a:endParaRPr/>
          </a:p>
          <a:p>
            <a:pPr indent="0" lvl="0" marL="0" rtl="0" algn="l">
              <a:spcBef>
                <a:spcPts val="1200"/>
              </a:spcBef>
              <a:spcAft>
                <a:spcPts val="0"/>
              </a:spcAft>
              <a:buClr>
                <a:schemeClr val="dk1"/>
              </a:buClr>
              <a:buSzPct val="61111"/>
              <a:buFont typeface="Arial"/>
              <a:buNone/>
            </a:pPr>
            <a:r>
              <a:rPr lang="fr"/>
              <a:t>Il arrive sur la page panier</a:t>
            </a:r>
            <a:endParaRPr/>
          </a:p>
          <a:p>
            <a:pPr indent="0" lvl="0" marL="0" rtl="0" algn="l">
              <a:spcBef>
                <a:spcPts val="1200"/>
              </a:spcBef>
              <a:spcAft>
                <a:spcPts val="0"/>
              </a:spcAft>
              <a:buClr>
                <a:schemeClr val="dk1"/>
              </a:buClr>
              <a:buSzPct val="61111"/>
              <a:buFont typeface="Arial"/>
              <a:buNone/>
            </a:pPr>
            <a:r>
              <a:rPr lang="fr"/>
              <a:t>Il valide son achat</a:t>
            </a:r>
            <a:endParaRPr/>
          </a:p>
          <a:p>
            <a:pPr indent="0" lvl="0" marL="0" rtl="0" algn="l">
              <a:spcBef>
                <a:spcPts val="1200"/>
              </a:spcBef>
              <a:spcAft>
                <a:spcPts val="1200"/>
              </a:spcAft>
              <a:buNone/>
            </a:pPr>
            <a:r>
              <a:rPr lang="fr"/>
              <a:t>Un message de confirmation </a:t>
            </a:r>
            <a:r>
              <a:rPr lang="fr"/>
              <a:t>apparaît</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2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fr"/>
              <a:t>Fonctions de navigation et du dom</a:t>
            </a:r>
            <a:endParaRPr/>
          </a:p>
        </p:txBody>
      </p:sp>
      <p:sp>
        <p:nvSpPr>
          <p:cNvPr id="133" name="Google Shape;133;p2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fr"/>
              <a:t>Une fois que vous avez votre scénario, vous pouvez commencer à coder. Il suffit de créer votre fichier de tests dans le dossier de Cypress cypress/integration</a:t>
            </a:r>
            <a:endParaRPr/>
          </a:p>
          <a:p>
            <a:pPr indent="0" lvl="0" marL="0" rtl="0" algn="l">
              <a:spcBef>
                <a:spcPts val="1200"/>
              </a:spcBef>
              <a:spcAft>
                <a:spcPts val="0"/>
              </a:spcAft>
              <a:buNone/>
            </a:pPr>
            <a:r>
              <a:rPr lang="fr"/>
              <a:t>Mais faisons une petite passe sur les fonctions disponibles de cypress</a:t>
            </a:r>
            <a:endParaRPr/>
          </a:p>
          <a:p>
            <a:pPr indent="0" lvl="0" marL="0" rtl="0" algn="l">
              <a:spcBef>
                <a:spcPts val="1200"/>
              </a:spcBef>
              <a:spcAft>
                <a:spcPts val="0"/>
              </a:spcAft>
              <a:buNone/>
            </a:pPr>
            <a:r>
              <a:rPr lang="fr"/>
              <a:t>cy.visit(“...”) → Naviguer sur une url</a:t>
            </a:r>
            <a:endParaRPr/>
          </a:p>
          <a:p>
            <a:pPr indent="0" lvl="0" marL="0" rtl="0" algn="l">
              <a:spcBef>
                <a:spcPts val="1200"/>
              </a:spcBef>
              <a:spcAft>
                <a:spcPts val="0"/>
              </a:spcAft>
              <a:buNone/>
            </a:pPr>
            <a:r>
              <a:rPr lang="fr"/>
              <a:t>cy.url() → Récupérer l’url afin d’en valider le résultat</a:t>
            </a:r>
            <a:endParaRPr/>
          </a:p>
          <a:p>
            <a:pPr indent="0" lvl="0" marL="0" rtl="0" algn="l">
              <a:spcBef>
                <a:spcPts val="1200"/>
              </a:spcBef>
              <a:spcAft>
                <a:spcPts val="1200"/>
              </a:spcAft>
              <a:buNone/>
            </a:pPr>
            <a:r>
              <a:rPr lang="fr"/>
              <a:t>cy.get(“...”) → </a:t>
            </a:r>
            <a:r>
              <a:rPr lang="fr"/>
              <a:t>Récupérer</a:t>
            </a:r>
            <a:r>
              <a:rPr lang="fr"/>
              <a:t> un élément du dom</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2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fr"/>
              <a:t>Fonctions de manipulation du dom et d’assertion</a:t>
            </a:r>
            <a:endParaRPr/>
          </a:p>
        </p:txBody>
      </p:sp>
      <p:sp>
        <p:nvSpPr>
          <p:cNvPr id="139" name="Google Shape;139;p2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lang="fr"/>
              <a:t>cy.get('[data-cy=email]')</a:t>
            </a:r>
            <a:endParaRPr/>
          </a:p>
          <a:p>
            <a:pPr indent="0" lvl="0" marL="0" rtl="0" algn="l">
              <a:spcBef>
                <a:spcPts val="1200"/>
              </a:spcBef>
              <a:spcAft>
                <a:spcPts val="0"/>
              </a:spcAft>
              <a:buClr>
                <a:schemeClr val="dk1"/>
              </a:buClr>
              <a:buSzPts val="1100"/>
              <a:buFont typeface="Arial"/>
              <a:buNone/>
            </a:pPr>
            <a:r>
              <a:rPr lang="fr"/>
              <a:t>        .type(login.email)</a:t>
            </a:r>
            <a:endParaRPr/>
          </a:p>
          <a:p>
            <a:pPr indent="0" lvl="0" marL="0" rtl="0" algn="l">
              <a:spcBef>
                <a:spcPts val="1200"/>
              </a:spcBef>
              <a:spcAft>
                <a:spcPts val="0"/>
              </a:spcAft>
              <a:buClr>
                <a:schemeClr val="dk1"/>
              </a:buClr>
              <a:buSzPts val="1100"/>
              <a:buFont typeface="Arial"/>
              <a:buNone/>
            </a:pPr>
            <a:r>
              <a:rPr lang="fr"/>
              <a:t>        .should("have.value", login.email);</a:t>
            </a:r>
            <a:endParaRPr/>
          </a:p>
          <a:p>
            <a:pPr indent="0" lvl="0" marL="0" rtl="0" algn="l">
              <a:spcBef>
                <a:spcPts val="1200"/>
              </a:spcBef>
              <a:spcAft>
                <a:spcPts val="0"/>
              </a:spcAft>
              <a:buClr>
                <a:schemeClr val="dk1"/>
              </a:buClr>
              <a:buSzPts val="1100"/>
              <a:buFont typeface="Arial"/>
              <a:buNone/>
            </a:pPr>
            <a:r>
              <a:t/>
            </a:r>
            <a:endParaRPr/>
          </a:p>
          <a:p>
            <a:pPr indent="0" lvl="0" marL="0" rtl="0" algn="l">
              <a:spcBef>
                <a:spcPts val="1200"/>
              </a:spcBef>
              <a:spcAft>
                <a:spcPts val="0"/>
              </a:spcAft>
              <a:buNone/>
            </a:pPr>
            <a:r>
              <a:rPr lang="fr"/>
              <a:t>cy.get('[data-cy=submit]').click();</a:t>
            </a:r>
            <a:endParaRPr/>
          </a:p>
          <a:p>
            <a:pPr indent="0" lvl="0" marL="0" rtl="0" algn="l">
              <a:spcBef>
                <a:spcPts val="1200"/>
              </a:spcBef>
              <a:spcAft>
                <a:spcPts val="0"/>
              </a:spcAft>
              <a:buNone/>
            </a:pPr>
            <a:r>
              <a:rPr lang="fr"/>
              <a:t>cy.url().should("include", "/shop");</a:t>
            </a:r>
            <a:endParaRPr/>
          </a:p>
          <a:p>
            <a:pPr indent="0" lvl="0" marL="0" rtl="0" algn="l">
              <a:spcBef>
                <a:spcPts val="1200"/>
              </a:spcBef>
              <a:spcAft>
                <a:spcPts val="1200"/>
              </a:spcAft>
              <a:buNone/>
            </a:pPr>
            <a:r>
              <a:rPr lang="fr"/>
              <a:t>cy.get('[data-cy=success]').contains('Thank you for your purchase');</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2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fr"/>
              <a:t>Écrire</a:t>
            </a:r>
            <a:r>
              <a:rPr lang="fr"/>
              <a:t> un premier test e2e</a:t>
            </a:r>
            <a:endParaRPr/>
          </a:p>
        </p:txBody>
      </p:sp>
      <p:sp>
        <p:nvSpPr>
          <p:cNvPr id="145" name="Google Shape;145;p2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fr"/>
              <a:t>Dans cypress/e2e on va modifier le fichier </a:t>
            </a:r>
            <a:r>
              <a:rPr lang="fr"/>
              <a:t>spec.cy.js</a:t>
            </a:r>
            <a:endParaRPr/>
          </a:p>
          <a:p>
            <a:pPr indent="0" lvl="0" marL="0" rtl="0" algn="l">
              <a:spcBef>
                <a:spcPts val="1200"/>
              </a:spcBef>
              <a:spcAft>
                <a:spcPts val="0"/>
              </a:spcAft>
              <a:buClr>
                <a:schemeClr val="dk1"/>
              </a:buClr>
              <a:buSzPts val="1100"/>
              <a:buFont typeface="Arial"/>
              <a:buNone/>
            </a:pPr>
            <a:r>
              <a:rPr lang="fr"/>
              <a:t>describe('Home page spec', () =&gt; {</a:t>
            </a:r>
            <a:endParaRPr/>
          </a:p>
          <a:p>
            <a:pPr indent="0" lvl="0" marL="0" rtl="0" algn="l">
              <a:spcBef>
                <a:spcPts val="1200"/>
              </a:spcBef>
              <a:spcAft>
                <a:spcPts val="0"/>
              </a:spcAft>
              <a:buClr>
                <a:schemeClr val="dk1"/>
              </a:buClr>
              <a:buSzPts val="1100"/>
              <a:buFont typeface="Arial"/>
              <a:buNone/>
            </a:pPr>
            <a:r>
              <a:rPr lang="fr"/>
              <a:t>  it('deployed react app to localhost', () =&gt; {</a:t>
            </a:r>
            <a:endParaRPr/>
          </a:p>
          <a:p>
            <a:pPr indent="0" lvl="0" marL="0" rtl="0" algn="l">
              <a:spcBef>
                <a:spcPts val="1200"/>
              </a:spcBef>
              <a:spcAft>
                <a:spcPts val="0"/>
              </a:spcAft>
              <a:buClr>
                <a:schemeClr val="dk1"/>
              </a:buClr>
              <a:buSzPts val="1100"/>
              <a:buFont typeface="Arial"/>
              <a:buNone/>
            </a:pPr>
            <a:r>
              <a:rPr lang="fr"/>
              <a:t>    cy.visit('http://localhost:3000')</a:t>
            </a:r>
            <a:endParaRPr/>
          </a:p>
          <a:p>
            <a:pPr indent="0" lvl="0" marL="0" rtl="0" algn="l">
              <a:spcBef>
                <a:spcPts val="1200"/>
              </a:spcBef>
              <a:spcAft>
                <a:spcPts val="0"/>
              </a:spcAft>
              <a:buClr>
                <a:schemeClr val="dk1"/>
              </a:buClr>
              <a:buSzPts val="1100"/>
              <a:buFont typeface="Arial"/>
              <a:buNone/>
            </a:pPr>
            <a:r>
              <a:rPr lang="fr"/>
              <a:t>    cy.contains('1 user(s) already registered')</a:t>
            </a:r>
            <a:endParaRPr/>
          </a:p>
          <a:p>
            <a:pPr indent="0" lvl="0" marL="0" rtl="0" algn="l">
              <a:spcBef>
                <a:spcPts val="1200"/>
              </a:spcBef>
              <a:spcAft>
                <a:spcPts val="0"/>
              </a:spcAft>
              <a:buClr>
                <a:schemeClr val="dk1"/>
              </a:buClr>
              <a:buSzPts val="1100"/>
              <a:buFont typeface="Arial"/>
              <a:buNone/>
            </a:pPr>
            <a:r>
              <a:rPr lang="fr"/>
              <a:t>  })</a:t>
            </a:r>
            <a:endParaRPr/>
          </a:p>
          <a:p>
            <a:pPr indent="0" lvl="0" marL="0" rtl="0" algn="l">
              <a:spcBef>
                <a:spcPts val="1200"/>
              </a:spcBef>
              <a:spcAft>
                <a:spcPts val="1200"/>
              </a:spcAft>
              <a:buClr>
                <a:schemeClr val="dk1"/>
              </a:buClr>
              <a:buSzPts val="1100"/>
              <a:buFont typeface="Arial"/>
              <a:buNone/>
            </a:pPr>
            <a:r>
              <a:rPr lang="fr"/>
              <a:t>})</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2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fr"/>
              <a:t>Lancer le test e2e</a:t>
            </a:r>
            <a:endParaRPr/>
          </a:p>
        </p:txBody>
      </p:sp>
      <p:sp>
        <p:nvSpPr>
          <p:cNvPr id="151" name="Google Shape;151;p2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fr"/>
              <a:t>A travers l’interface graphique de cypress vous allez pouvoir lancer le test</a:t>
            </a:r>
            <a:endParaRPr/>
          </a:p>
          <a:p>
            <a:pPr indent="0" lvl="0" marL="0" rtl="0" algn="l">
              <a:spcBef>
                <a:spcPts val="1200"/>
              </a:spcBef>
              <a:spcAft>
                <a:spcPts val="0"/>
              </a:spcAft>
              <a:buNone/>
            </a:pPr>
            <a:r>
              <a:rPr lang="fr"/>
              <a:t>Cela implique d’implémenter sur la home page de récupérer la liste des utilisateurs inscrits depuis le localstorage</a:t>
            </a:r>
            <a:endParaRPr/>
          </a:p>
          <a:p>
            <a:pPr indent="0" lvl="0" marL="0" rtl="0" algn="l">
              <a:spcBef>
                <a:spcPts val="1200"/>
              </a:spcBef>
              <a:spcAft>
                <a:spcPts val="0"/>
              </a:spcAft>
              <a:buNone/>
            </a:pPr>
            <a:r>
              <a:rPr lang="fr"/>
              <a:t>Pour ce premier test il faut donc : </a:t>
            </a:r>
            <a:endParaRPr/>
          </a:p>
          <a:p>
            <a:pPr indent="-342900" lvl="0" marL="457200" rtl="0" algn="l">
              <a:spcBef>
                <a:spcPts val="1200"/>
              </a:spcBef>
              <a:spcAft>
                <a:spcPts val="0"/>
              </a:spcAft>
              <a:buSzPts val="1800"/>
              <a:buChar char="-"/>
            </a:pPr>
            <a:r>
              <a:rPr lang="fr"/>
              <a:t>vider le localstorage</a:t>
            </a:r>
            <a:endParaRPr/>
          </a:p>
          <a:p>
            <a:pPr indent="-342900" lvl="0" marL="457200" rtl="0" algn="l">
              <a:spcBef>
                <a:spcPts val="0"/>
              </a:spcBef>
              <a:spcAft>
                <a:spcPts val="0"/>
              </a:spcAft>
              <a:buSzPts val="1800"/>
              <a:buChar char="-"/>
            </a:pPr>
            <a:r>
              <a:rPr lang="fr"/>
              <a:t>créer un unique user</a:t>
            </a:r>
            <a:endParaRPr/>
          </a:p>
          <a:p>
            <a:pPr indent="-342900" lvl="0" marL="457200" rtl="0" algn="l">
              <a:spcBef>
                <a:spcPts val="0"/>
              </a:spcBef>
              <a:spcAft>
                <a:spcPts val="0"/>
              </a:spcAft>
              <a:buSzPts val="1800"/>
              <a:buChar char="-"/>
            </a:pPr>
            <a:r>
              <a:rPr lang="fr"/>
              <a:t>valider l’affichage</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3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fr"/>
              <a:t>Lancer les tests e2e sur github actions</a:t>
            </a:r>
            <a:endParaRPr/>
          </a:p>
        </p:txBody>
      </p:sp>
      <p:sp>
        <p:nvSpPr>
          <p:cNvPr id="157" name="Google Shape;157;p3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fr"/>
              <a:t>- name: Cypress run</a:t>
            </a:r>
            <a:endParaRPr/>
          </a:p>
          <a:p>
            <a:pPr indent="0" lvl="0" marL="0" rtl="0" algn="l">
              <a:spcBef>
                <a:spcPts val="1200"/>
              </a:spcBef>
              <a:spcAft>
                <a:spcPts val="0"/>
              </a:spcAft>
              <a:buNone/>
            </a:pPr>
            <a:r>
              <a:rPr lang="fr"/>
              <a:t>        uses: cypress-io/github-action@v6</a:t>
            </a:r>
            <a:endParaRPr/>
          </a:p>
          <a:p>
            <a:pPr indent="0" lvl="0" marL="0" rtl="0" algn="l">
              <a:spcBef>
                <a:spcPts val="1200"/>
              </a:spcBef>
              <a:spcAft>
                <a:spcPts val="0"/>
              </a:spcAft>
              <a:buNone/>
            </a:pPr>
            <a:r>
              <a:rPr lang="fr"/>
              <a:t>        with:</a:t>
            </a:r>
            <a:endParaRPr/>
          </a:p>
          <a:p>
            <a:pPr indent="0" lvl="0" marL="0" rtl="0" algn="l">
              <a:spcBef>
                <a:spcPts val="1200"/>
              </a:spcBef>
              <a:spcAft>
                <a:spcPts val="0"/>
              </a:spcAft>
              <a:buNone/>
            </a:pPr>
            <a:r>
              <a:rPr lang="fr"/>
              <a:t>          build: npm run build</a:t>
            </a:r>
            <a:endParaRPr/>
          </a:p>
          <a:p>
            <a:pPr indent="0" lvl="0" marL="0" rtl="0" algn="l">
              <a:spcBef>
                <a:spcPts val="1200"/>
              </a:spcBef>
              <a:spcAft>
                <a:spcPts val="1200"/>
              </a:spcAft>
              <a:buNone/>
            </a:pPr>
            <a:r>
              <a:rPr lang="fr"/>
              <a:t>          start: npm start</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3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fr"/>
              <a:t>A vous de jouer</a:t>
            </a:r>
            <a:endParaRPr/>
          </a:p>
        </p:txBody>
      </p:sp>
      <p:sp>
        <p:nvSpPr>
          <p:cNvPr id="163" name="Google Shape;163;p3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fr"/>
              <a:t>Vous allez pouvoir créer les tests e2e correspondant à votre fonctionnalité</a:t>
            </a:r>
            <a:endParaRPr/>
          </a:p>
          <a:p>
            <a:pPr indent="-342900" lvl="0" marL="457200" rtl="0" algn="l">
              <a:spcBef>
                <a:spcPts val="1200"/>
              </a:spcBef>
              <a:spcAft>
                <a:spcPts val="0"/>
              </a:spcAft>
              <a:buSzPts val="1800"/>
              <a:buChar char="-"/>
            </a:pPr>
            <a:r>
              <a:rPr lang="fr"/>
              <a:t>Navigation vers la page → Aucun utilisateur inscrit → Navigation vers la page de formulaire → Ajout d’un nouvel utilisateur sans erreur → Navigation vers la page d’accueil → Un utilisateur inscrit</a:t>
            </a:r>
            <a:endParaRPr/>
          </a:p>
          <a:p>
            <a:pPr indent="-342900" lvl="0" marL="457200" rtl="0" algn="l">
              <a:spcBef>
                <a:spcPts val="0"/>
              </a:spcBef>
              <a:spcAft>
                <a:spcPts val="0"/>
              </a:spcAft>
              <a:buSzPts val="1800"/>
              <a:buChar char="-"/>
            </a:pPr>
            <a:r>
              <a:rPr lang="fr"/>
              <a:t>Navigation vers la page → 1 utilisateur inscrit → Navigation vers la page de formulaire → Ajout d’un nouvel utilisateur avec erreur → Navigation vers la page d’accueil → Toujours 1 utilisateur inscrit</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